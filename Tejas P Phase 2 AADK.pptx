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6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81" r:id="rId13"/>
  </p:sldIdLst>
  <p:sldSz cx="9144000" cy="5143500" type="screen16x9"/>
  <p:notesSz cx="5143500" cy="9144000"/>
  <p:embeddedFontLst>
    <p:embeddedFont>
      <p:font typeface="Brygada 1918" panose="020B0604020202020204" charset="0"/>
      <p:regular r:id="rId15"/>
    </p:embeddedFont>
    <p:embeddedFont>
      <p:font typeface="Brygada 1918 Semi 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50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7680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EBD4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EBD4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EBD4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927"/>
            <a:ext cx="9144000" cy="5143500"/>
          </a:xfrm>
          <a:prstGeom prst="rect">
            <a:avLst/>
          </a:prstGeom>
          <a:solidFill>
            <a:srgbClr val="F6EBD4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EBD4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EBD4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EBD4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EBD4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EBD4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EBD4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5.svg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5701B1F-5C06-522D-0A58-FDE9CE14B37C}"/>
              </a:ext>
            </a:extLst>
          </p:cNvPr>
          <p:cNvGrpSpPr/>
          <p:nvPr/>
        </p:nvGrpSpPr>
        <p:grpSpPr>
          <a:xfrm>
            <a:off x="115166" y="113297"/>
            <a:ext cx="5733299" cy="2840797"/>
            <a:chOff x="2653188" y="1881810"/>
            <a:chExt cx="11960673" cy="433824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C819523-34C3-7F48-3232-61A6EB44D4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53188" y="1881810"/>
              <a:ext cx="3005554" cy="2162309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8B712CF-48A8-3FE2-3392-802FE1F157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7511" t="8562" r="4394" b="14181"/>
            <a:stretch/>
          </p:blipFill>
          <p:spPr>
            <a:xfrm>
              <a:off x="11051254" y="4020776"/>
              <a:ext cx="3562607" cy="2199276"/>
            </a:xfrm>
            <a:prstGeom prst="rect">
              <a:avLst/>
            </a:prstGeom>
          </p:spPr>
        </p:pic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DB46DC85-906B-203C-9C8A-C6EB38CA6C8A}"/>
              </a:ext>
            </a:extLst>
          </p:cNvPr>
          <p:cNvSpPr/>
          <p:nvPr/>
        </p:nvSpPr>
        <p:spPr>
          <a:xfrm>
            <a:off x="1288510" y="189975"/>
            <a:ext cx="7735067" cy="200824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sz="2100" b="1" dirty="0">
                <a:ln w="0"/>
                <a:solidFill>
                  <a:schemeClr val="accent1">
                    <a:lumMod val="5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VISVESVARYA TECHNOLOGICAL UNIVERSITY, BELGAUM</a:t>
            </a:r>
            <a:br>
              <a:rPr lang="en-US" sz="2100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100" b="1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100" b="1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br>
              <a:rPr lang="en-US" sz="2100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100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	   </a:t>
            </a:r>
          </a:p>
          <a:p>
            <a:pPr algn="ctr"/>
            <a:endParaRPr lang="en-US" sz="2100" b="1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9CF594-2CFF-A7FB-8D40-E5A27C067306}"/>
              </a:ext>
            </a:extLst>
          </p:cNvPr>
          <p:cNvSpPr/>
          <p:nvPr/>
        </p:nvSpPr>
        <p:spPr>
          <a:xfrm>
            <a:off x="1042584" y="10632"/>
            <a:ext cx="7585223" cy="1038746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endParaRPr lang="en-US" sz="2100" b="1" dirty="0">
              <a:ln/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100" b="1" dirty="0">
              <a:ln/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100" b="1" dirty="0">
                <a:ln/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KALPATARU INSTITUTE OF TECHNOLOGY,TIPTUR</a:t>
            </a:r>
            <a:endParaRPr lang="en-US" sz="2100" b="1" dirty="0">
              <a:ln/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802816-BFD1-163C-826B-959FB0ECD61F}"/>
              </a:ext>
            </a:extLst>
          </p:cNvPr>
          <p:cNvSpPr/>
          <p:nvPr/>
        </p:nvSpPr>
        <p:spPr>
          <a:xfrm>
            <a:off x="1527594" y="1034837"/>
            <a:ext cx="6457537" cy="346249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b="1" spc="38" dirty="0">
                <a:ln w="0"/>
                <a:solidFill>
                  <a:schemeClr val="accent2">
                    <a:lumMod val="75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ELECTRONICS AND COMMUNICATION ENGINEERING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334EC7-92A0-463B-C4B1-614A3DC6C56C}"/>
              </a:ext>
            </a:extLst>
          </p:cNvPr>
          <p:cNvSpPr txBox="1"/>
          <p:nvPr/>
        </p:nvSpPr>
        <p:spPr>
          <a:xfrm>
            <a:off x="6354543" y="4670294"/>
            <a:ext cx="4018936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50" b="1" u="sng" dirty="0">
                <a:ln w="0"/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r>
              <a:rPr lang="en-US" sz="1350" b="1" dirty="0">
                <a:ln w="0"/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TEJAS P :   1KI22EC109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272DA0-EE19-E76D-4A29-6D18D79D6D55}"/>
              </a:ext>
            </a:extLst>
          </p:cNvPr>
          <p:cNvSpPr/>
          <p:nvPr/>
        </p:nvSpPr>
        <p:spPr>
          <a:xfrm>
            <a:off x="2197340" y="4139796"/>
            <a:ext cx="5917402" cy="34624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“Android App Development Using Gen-AI”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5110C1-E190-260E-C946-B33415DFE2A8}"/>
              </a:ext>
            </a:extLst>
          </p:cNvPr>
          <p:cNvSpPr txBox="1"/>
          <p:nvPr/>
        </p:nvSpPr>
        <p:spPr>
          <a:xfrm>
            <a:off x="2760991" y="2930593"/>
            <a:ext cx="435035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REVIEW PHASE -2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FACB347-A87A-8E58-CAE1-3D20884BEE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0745" y="3341738"/>
            <a:ext cx="1996971" cy="971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8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3550" y="0"/>
            <a:ext cx="3600450" cy="5143500"/>
          </a:xfrm>
          <a:prstGeom prst="rect">
            <a:avLst/>
          </a:prstGeom>
          <a:solidFill>
            <a:srgbClr val="626C3B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3290" y="818555"/>
            <a:ext cx="2629793" cy="35063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662657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Ksheera-Sagara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496119" y="1318245"/>
            <a:ext cx="4722763" cy="1834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Dairy Profit Intelligence for Farmers</a:t>
            </a:r>
            <a:endParaRPr lang="en-US" sz="3850" dirty="0"/>
          </a:p>
        </p:txBody>
      </p:sp>
      <p:sp>
        <p:nvSpPr>
          <p:cNvPr id="6" name="Text 3"/>
          <p:cNvSpPr/>
          <p:nvPr/>
        </p:nvSpPr>
        <p:spPr>
          <a:xfrm>
            <a:off x="496119" y="3365004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An Android app powered by GenAI that transforms daily milk slips into clear financial insight — helping dairy farmers move from survival to profitability.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96119" y="4209678"/>
            <a:ext cx="1400845" cy="266402"/>
          </a:xfrm>
          <a:prstGeom prst="roundRect">
            <a:avLst>
              <a:gd name="adj" fmla="val 63859"/>
            </a:avLst>
          </a:prstGeom>
          <a:solidFill>
            <a:srgbClr val="EAEDDE"/>
          </a:solidFill>
          <a:ln/>
        </p:spPr>
      </p:sp>
      <p:sp>
        <p:nvSpPr>
          <p:cNvPr id="8" name="Text 5"/>
          <p:cNvSpPr/>
          <p:nvPr/>
        </p:nvSpPr>
        <p:spPr>
          <a:xfrm>
            <a:off x="581174" y="4252168"/>
            <a:ext cx="1230734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INTERNSHIP PROJECT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1967805" y="4204915"/>
            <a:ext cx="1198662" cy="275927"/>
          </a:xfrm>
          <a:prstGeom prst="roundRect">
            <a:avLst>
              <a:gd name="adj" fmla="val 61654"/>
            </a:avLst>
          </a:prstGeom>
          <a:noFill/>
          <a:ln w="4763">
            <a:solidFill>
              <a:srgbClr val="626C3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057623" y="4252168"/>
            <a:ext cx="1019026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626C3B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ANDROID + GENAI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37309" y="4204915"/>
            <a:ext cx="986284" cy="275927"/>
          </a:xfrm>
          <a:prstGeom prst="roundRect">
            <a:avLst>
              <a:gd name="adj" fmla="val 61654"/>
            </a:avLst>
          </a:prstGeom>
          <a:noFill/>
          <a:ln w="4763">
            <a:solidFill>
              <a:srgbClr val="626C3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27127" y="4252168"/>
            <a:ext cx="806648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626C3B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AGRICULTURE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00450" cy="5143500"/>
          </a:xfrm>
          <a:prstGeom prst="rect">
            <a:avLst/>
          </a:prstGeom>
          <a:solidFill>
            <a:srgbClr val="626C3B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2" y="818555"/>
            <a:ext cx="2629793" cy="35063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473646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The Problem: Farmers Don't Know They're Losing Money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3925119" y="1572220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Every day, dairy farmers receive a </a:t>
            </a:r>
            <a:r>
              <a:rPr lang="en-US" sz="11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Milk Slip</a:t>
            </a: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showing fat content, SNF, and payment. But that's only half the picture.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925119" y="2185318"/>
            <a:ext cx="2290465" cy="1284759"/>
          </a:xfrm>
          <a:prstGeom prst="roundRect">
            <a:avLst>
              <a:gd name="adj" fmla="val 16552"/>
            </a:avLst>
          </a:prstGeom>
          <a:solidFill>
            <a:srgbClr val="626C3B"/>
          </a:solidFill>
          <a:ln w="4763">
            <a:solidFill>
              <a:srgbClr val="7B855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071640" y="2331839"/>
            <a:ext cx="177202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💸</a:t>
            </a:r>
            <a:r>
              <a:rPr lang="en-US" sz="135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 Hidden Costs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071640" y="2643113"/>
            <a:ext cx="19974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Feed, medicines, electricity, and labor costs are never subtracted from income.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357342" y="2185318"/>
            <a:ext cx="2290539" cy="1284759"/>
          </a:xfrm>
          <a:prstGeom prst="roundRect">
            <a:avLst>
              <a:gd name="adj" fmla="val 16552"/>
            </a:avLst>
          </a:prstGeom>
          <a:solidFill>
            <a:srgbClr val="83792E"/>
          </a:solidFill>
          <a:ln w="4763">
            <a:solidFill>
              <a:srgbClr val="9C924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03863" y="2331839"/>
            <a:ext cx="177202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📉</a:t>
            </a:r>
            <a:r>
              <a:rPr lang="en-US" sz="135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 Silent Losses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503863" y="2643113"/>
            <a:ext cx="19974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Many farmers operate at a loss without ever realizing it.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925119" y="3611835"/>
            <a:ext cx="4722763" cy="1057945"/>
          </a:xfrm>
          <a:prstGeom prst="roundRect">
            <a:avLst>
              <a:gd name="adj" fmla="val 20100"/>
            </a:avLst>
          </a:prstGeom>
          <a:solidFill>
            <a:srgbClr val="E8AF3B"/>
          </a:solidFill>
          <a:ln w="4763">
            <a:solidFill>
              <a:srgbClr val="CE952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71640" y="3758357"/>
            <a:ext cx="177202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📊 No Financial Tool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071640" y="4069631"/>
            <a:ext cx="442972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No accessible tool exists to track monthly profit or cow-wise performance.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37567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Objectives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585392"/>
            <a:ext cx="2628230" cy="262823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474988" y="1352624"/>
            <a:ext cx="2517874" cy="1365275"/>
          </a:xfrm>
          <a:prstGeom prst="roundRect">
            <a:avLst>
              <a:gd name="adj" fmla="val 6698"/>
            </a:avLst>
          </a:prstGeom>
          <a:solidFill>
            <a:srgbClr val="F6EBD4"/>
          </a:solidFill>
          <a:ln w="19050">
            <a:solidFill>
              <a:srgbClr val="626C3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455938" y="1352624"/>
            <a:ext cx="76200" cy="1365275"/>
          </a:xfrm>
          <a:prstGeom prst="roundRect">
            <a:avLst>
              <a:gd name="adj" fmla="val 279070"/>
            </a:avLst>
          </a:prstGeom>
          <a:solidFill>
            <a:srgbClr val="626C3B"/>
          </a:solidFill>
          <a:ln/>
        </p:spPr>
      </p:sp>
      <p:sp>
        <p:nvSpPr>
          <p:cNvPr id="6" name="Text 3"/>
          <p:cNvSpPr/>
          <p:nvPr/>
        </p:nvSpPr>
        <p:spPr>
          <a:xfrm>
            <a:off x="3692947" y="151343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Track Daily Income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692947" y="1876648"/>
            <a:ext cx="213910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Log liters and fat% from the milk slip to calculate real revenue.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134621" y="1352624"/>
            <a:ext cx="2517949" cy="1365275"/>
          </a:xfrm>
          <a:prstGeom prst="roundRect">
            <a:avLst>
              <a:gd name="adj" fmla="val 6698"/>
            </a:avLst>
          </a:prstGeom>
          <a:solidFill>
            <a:srgbClr val="F6EBD4"/>
          </a:solidFill>
          <a:ln w="19050">
            <a:solidFill>
              <a:srgbClr val="83792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115571" y="1352624"/>
            <a:ext cx="76200" cy="1365275"/>
          </a:xfrm>
          <a:prstGeom prst="roundRect">
            <a:avLst>
              <a:gd name="adj" fmla="val 279070"/>
            </a:avLst>
          </a:prstGeom>
          <a:solidFill>
            <a:srgbClr val="83792E"/>
          </a:solidFill>
          <a:ln/>
        </p:spPr>
      </p:sp>
      <p:sp>
        <p:nvSpPr>
          <p:cNvPr id="10" name="Text 7"/>
          <p:cNvSpPr/>
          <p:nvPr/>
        </p:nvSpPr>
        <p:spPr>
          <a:xfrm>
            <a:off x="6352580" y="151343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Record All Expenses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352580" y="1876648"/>
            <a:ext cx="213918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Categorize costs: Fodder, Medical, Labor, Electricity.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474988" y="2859658"/>
            <a:ext cx="2517874" cy="1586731"/>
          </a:xfrm>
          <a:prstGeom prst="roundRect">
            <a:avLst>
              <a:gd name="adj" fmla="val 5763"/>
            </a:avLst>
          </a:prstGeom>
          <a:solidFill>
            <a:srgbClr val="F6EBD4"/>
          </a:solidFill>
          <a:ln w="19050">
            <a:solidFill>
              <a:srgbClr val="E8AF3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55938" y="2859658"/>
            <a:ext cx="76200" cy="1586731"/>
          </a:xfrm>
          <a:prstGeom prst="roundRect">
            <a:avLst>
              <a:gd name="adj" fmla="val 279070"/>
            </a:avLst>
          </a:prstGeom>
          <a:solidFill>
            <a:srgbClr val="E8AF3B"/>
          </a:solidFill>
          <a:ln/>
        </p:spPr>
      </p:sp>
      <p:sp>
        <p:nvSpPr>
          <p:cNvPr id="14" name="Text 11"/>
          <p:cNvSpPr/>
          <p:nvPr/>
        </p:nvSpPr>
        <p:spPr>
          <a:xfrm>
            <a:off x="3692947" y="302046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Calculate Net Profit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3692947" y="3383682"/>
            <a:ext cx="213910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Show a clear Profit/Loss indicator per liter and per month.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134621" y="2859658"/>
            <a:ext cx="2517949" cy="1586731"/>
          </a:xfrm>
          <a:prstGeom prst="roundRect">
            <a:avLst>
              <a:gd name="adj" fmla="val 5763"/>
            </a:avLst>
          </a:prstGeom>
          <a:solidFill>
            <a:srgbClr val="F6EBD4"/>
          </a:solidFill>
          <a:ln w="19050">
            <a:solidFill>
              <a:srgbClr val="CC914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115571" y="2859658"/>
            <a:ext cx="76200" cy="1586731"/>
          </a:xfrm>
          <a:prstGeom prst="roundRect">
            <a:avLst>
              <a:gd name="adj" fmla="val 279070"/>
            </a:avLst>
          </a:prstGeom>
          <a:solidFill>
            <a:srgbClr val="CC914D"/>
          </a:solidFill>
          <a:ln/>
        </p:spPr>
      </p:sp>
      <p:sp>
        <p:nvSpPr>
          <p:cNvPr id="18" name="Text 15"/>
          <p:cNvSpPr/>
          <p:nvPr/>
        </p:nvSpPr>
        <p:spPr>
          <a:xfrm>
            <a:off x="6352580" y="3020467"/>
            <a:ext cx="2139181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Enable Smarter Decisions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6352580" y="3605138"/>
            <a:ext cx="213918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Help farmers decide when to reduce costs or cull non-productive cows.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54050"/>
            <a:ext cx="609079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The Vision: What is Ksheera-Sagara?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580555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Ksheera-Sagara</a:t>
            </a: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("Ocean of Milk") is a dedicated </a:t>
            </a:r>
            <a:r>
              <a:rPr lang="en-US" sz="11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Dairy Profit &amp; Loss Calculator</a:t>
            </a: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for cow owners. It's not just a diary — it's a financial advisor in your pocket.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193652"/>
            <a:ext cx="1507480" cy="9316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330249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Simple Data Entry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3609008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Enter milk slip data and expenses in seconds — designed for low-literacy, rural users.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2433" y="2193652"/>
            <a:ext cx="1507480" cy="9316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72433" y="3302496"/>
            <a:ext cx="203180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Instant Financial Health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3272433" y="3609008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 Green/Red dashboard shows whether the farm is profitable this month.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8747" y="2193652"/>
            <a:ext cx="1507480" cy="93166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48747" y="330249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GenAI Cost Tips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048747" y="3609008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The app suggests ways to reduce costs — like switching to home-grown fodder.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51321"/>
            <a:ext cx="507481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User Flow: How the App Works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407" y="1177826"/>
            <a:ext cx="6339185" cy="2901255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9492" y="1902191"/>
            <a:ext cx="407583" cy="40758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56361" y="3275491"/>
            <a:ext cx="1190142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Cow-wise Analysis</a:t>
            </a:r>
            <a:endParaRPr lang="en-US" sz="14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27357" y="1902956"/>
            <a:ext cx="407583" cy="407583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756456" y="3275491"/>
            <a:ext cx="1190143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Profit Dashboard</a:t>
            </a:r>
            <a:endParaRPr lang="en-US" sz="14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35603" y="1902956"/>
            <a:ext cx="407583" cy="407583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3264702" y="3390124"/>
            <a:ext cx="1190142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Expense Log</a:t>
            </a:r>
            <a:endParaRPr lang="en-US" sz="14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35697" y="1902956"/>
            <a:ext cx="407583" cy="407583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1740341" y="3390124"/>
            <a:ext cx="1190142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Income Log</a:t>
            </a:r>
            <a:endParaRPr lang="en-US" sz="1400" dirty="0"/>
          </a:p>
        </p:txBody>
      </p:sp>
      <p:sp>
        <p:nvSpPr>
          <p:cNvPr id="12" name="Text 5"/>
          <p:cNvSpPr/>
          <p:nvPr/>
        </p:nvSpPr>
        <p:spPr>
          <a:xfrm>
            <a:off x="496119" y="4238551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The app guides farmers through a simple daily routine — log income, log expenses, and instantly see their financial standing. Multi-cow farmers can compare profitability per animal.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132" y="370656"/>
            <a:ext cx="6170414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Methodology &amp; Technical Implementation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34132" y="1029444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34132" y="1345332"/>
            <a:ext cx="1939007" cy="1598488"/>
          </a:xfrm>
          <a:prstGeom prst="roundRect">
            <a:avLst>
              <a:gd name="adj" fmla="val 11640"/>
            </a:avLst>
          </a:prstGeom>
          <a:solidFill>
            <a:srgbClr val="626C3B"/>
          </a:solidFill>
          <a:ln w="4763">
            <a:solidFill>
              <a:srgbClr val="626C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2868" y="1474068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626C3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5187" y="1576313"/>
            <a:ext cx="167432" cy="1674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2868" y="1954634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Room DB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62868" y="2256979"/>
            <a:ext cx="1681535" cy="558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Local storage for a full year of daily entries — works offline.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481635" y="1345332"/>
            <a:ext cx="1939082" cy="1598488"/>
          </a:xfrm>
          <a:prstGeom prst="roundRect">
            <a:avLst>
              <a:gd name="adj" fmla="val 11640"/>
            </a:avLst>
          </a:prstGeom>
          <a:solidFill>
            <a:srgbClr val="626C3B"/>
          </a:solidFill>
          <a:ln w="4763">
            <a:solidFill>
              <a:srgbClr val="83792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610371" y="1474068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83792E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12690" y="1576313"/>
            <a:ext cx="167432" cy="1674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10371" y="1954634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MPAndroidChart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610371" y="2256979"/>
            <a:ext cx="1681609" cy="558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Pie charts visualize expense breakdown: Feed vs. Meds vs. Labor.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34132" y="3052316"/>
            <a:ext cx="1939007" cy="1598488"/>
          </a:xfrm>
          <a:prstGeom prst="roundRect">
            <a:avLst>
              <a:gd name="adj" fmla="val 11640"/>
            </a:avLst>
          </a:prstGeom>
          <a:solidFill>
            <a:srgbClr val="626C3B"/>
          </a:solidFill>
          <a:ln w="4763">
            <a:solidFill>
              <a:srgbClr val="E8AF3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62868" y="3181052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E8AF3B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5187" y="3283297"/>
            <a:ext cx="167432" cy="1674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62868" y="3661618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GenAI Integration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562868" y="3963963"/>
            <a:ext cx="1681535" cy="558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Generates personalized cost-saving recommendations based on input data.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2481635" y="3052316"/>
            <a:ext cx="1939082" cy="1598488"/>
          </a:xfrm>
          <a:prstGeom prst="roundRect">
            <a:avLst>
              <a:gd name="adj" fmla="val 11640"/>
            </a:avLst>
          </a:prstGeom>
          <a:solidFill>
            <a:srgbClr val="626C3B"/>
          </a:solidFill>
          <a:ln w="4763">
            <a:solidFill>
              <a:srgbClr val="CC914D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2610371" y="3181052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CC914D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12690" y="3283297"/>
            <a:ext cx="167432" cy="1674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610371" y="3661618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PDF Export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2610371" y="3963963"/>
            <a:ext cx="1681609" cy="558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Monthly financial summaries shared as PDF or image via WhatsApp.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4728046" y="1029444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Core Formula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4728046" y="1345332"/>
            <a:ext cx="3986585" cy="671140"/>
          </a:xfrm>
          <a:prstGeom prst="roundRect">
            <a:avLst>
              <a:gd name="adj" fmla="val 27724"/>
            </a:avLst>
          </a:prstGeom>
          <a:solidFill>
            <a:srgbClr val="B6D6FC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2020" y="1525116"/>
            <a:ext cx="155004" cy="12397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30998" y="1484784"/>
            <a:ext cx="3459659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Net Profit = Total Income − Total Expenses</a:t>
            </a:r>
            <a:endParaRPr lang="en-US" sz="950" dirty="0"/>
          </a:p>
          <a:p>
            <a:pPr marL="0" indent="0" algn="l">
              <a:lnSpc>
                <a:spcPts val="14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Profit per Liter = Net Profit ÷ Total Liters Sold</a:t>
            </a:r>
            <a:endParaRPr lang="en-US" sz="950" dirty="0"/>
          </a:p>
        </p:txBody>
      </p:sp>
      <p:sp>
        <p:nvSpPr>
          <p:cNvPr id="28" name="Text 21"/>
          <p:cNvSpPr/>
          <p:nvPr/>
        </p:nvSpPr>
        <p:spPr>
          <a:xfrm>
            <a:off x="4728046" y="2138511"/>
            <a:ext cx="3986585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Expense categories: </a:t>
            </a:r>
            <a:r>
              <a:rPr lang="en-US" sz="9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[Fodder] · [Medical] · [Labor] · [Electricity]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5162" y="381298"/>
            <a:ext cx="3767658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Research &amp; Background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162" y="1123578"/>
            <a:ext cx="2664023" cy="26640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58096" y="1986707"/>
            <a:ext cx="2084487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Why This Problem Matters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3458096" y="2318965"/>
            <a:ext cx="5225430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India is the world's largest milk producer, yet </a:t>
            </a:r>
            <a:r>
              <a:rPr lang="en-US" sz="10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smallholder dairy farmers</a:t>
            </a:r>
            <a:r>
              <a:rPr lang="en-US" sz="10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lack basic financial tools. Studies show most operate without tracking input costs, leading to invisible losses.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0875" y="4053557"/>
            <a:ext cx="28575" cy="722933"/>
          </a:xfrm>
          <a:prstGeom prst="rect">
            <a:avLst/>
          </a:prstGeom>
          <a:solidFill>
            <a:srgbClr val="626C3B"/>
          </a:solidFill>
          <a:ln/>
        </p:spPr>
      </p:sp>
      <p:sp>
        <p:nvSpPr>
          <p:cNvPr id="7" name="Text 4"/>
          <p:cNvSpPr/>
          <p:nvPr/>
        </p:nvSpPr>
        <p:spPr>
          <a:xfrm>
            <a:off x="626641" y="4067845"/>
            <a:ext cx="1757958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Financial Literacy Gap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641" y="4350246"/>
            <a:ext cx="2472556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Most farmers understand "income" but not "net profit" after expenses.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40658" y="4053557"/>
            <a:ext cx="28575" cy="722933"/>
          </a:xfrm>
          <a:prstGeom prst="rect">
            <a:avLst/>
          </a:prstGeom>
          <a:solidFill>
            <a:srgbClr val="83792E"/>
          </a:solidFill>
          <a:ln/>
        </p:spPr>
      </p:sp>
      <p:sp>
        <p:nvSpPr>
          <p:cNvPr id="10" name="Text 7"/>
          <p:cNvSpPr/>
          <p:nvPr/>
        </p:nvSpPr>
        <p:spPr>
          <a:xfrm>
            <a:off x="3416424" y="4067845"/>
            <a:ext cx="1953592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Smartphone Penetration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416424" y="4350246"/>
            <a:ext cx="2472556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Android adoption in rural India makes a mobile-first solution viable.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030441" y="4053557"/>
            <a:ext cx="28575" cy="722933"/>
          </a:xfrm>
          <a:prstGeom prst="rect">
            <a:avLst/>
          </a:prstGeom>
          <a:solidFill>
            <a:srgbClr val="E8AF3B"/>
          </a:solidFill>
          <a:ln/>
        </p:spPr>
      </p:sp>
      <p:sp>
        <p:nvSpPr>
          <p:cNvPr id="13" name="Text 10"/>
          <p:cNvSpPr/>
          <p:nvPr/>
        </p:nvSpPr>
        <p:spPr>
          <a:xfrm>
            <a:off x="6206207" y="4067845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GenAI Opportunity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206207" y="4350246"/>
            <a:ext cx="2472556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AI can translate raw data into actionable advice in local language.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00450" cy="5143500"/>
          </a:xfrm>
          <a:prstGeom prst="rect">
            <a:avLst/>
          </a:prstGeom>
          <a:solidFill>
            <a:srgbClr val="626C3B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2" y="818555"/>
            <a:ext cx="2629793" cy="35063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966639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Impact Goals</a:t>
            </a:r>
            <a:endParaRPr lang="en-US" sz="2750" dirty="0"/>
          </a:p>
        </p:txBody>
      </p:sp>
      <p:sp>
        <p:nvSpPr>
          <p:cNvPr id="5" name="Shape 2"/>
          <p:cNvSpPr/>
          <p:nvPr/>
        </p:nvSpPr>
        <p:spPr>
          <a:xfrm>
            <a:off x="3925119" y="1622227"/>
            <a:ext cx="4722763" cy="2554635"/>
          </a:xfrm>
          <a:prstGeom prst="roundRect">
            <a:avLst>
              <a:gd name="adj" fmla="val 8324"/>
            </a:avLst>
          </a:prstGeom>
          <a:solidFill>
            <a:srgbClr val="626C3B"/>
          </a:solidFill>
          <a:ln w="4763">
            <a:solidFill>
              <a:srgbClr val="7B855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929881" y="1626989"/>
            <a:ext cx="2356619" cy="1496690"/>
          </a:xfrm>
          <a:prstGeom prst="roundRect">
            <a:avLst>
              <a:gd name="adj" fmla="val 14208"/>
            </a:avLst>
          </a:prstGeom>
          <a:solidFill>
            <a:srgbClr val="626C3B"/>
          </a:solidFill>
          <a:ln/>
        </p:spPr>
      </p:sp>
      <p:sp>
        <p:nvSpPr>
          <p:cNvPr id="7" name="Text 4"/>
          <p:cNvSpPr/>
          <p:nvPr/>
        </p:nvSpPr>
        <p:spPr>
          <a:xfrm>
            <a:off x="4071640" y="1768748"/>
            <a:ext cx="2073101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🌱</a:t>
            </a:r>
            <a:r>
              <a:rPr lang="en-US" sz="135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 Entrepreneurial Farming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071640" y="2301478"/>
            <a:ext cx="207310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Shift dairy from a "survival activity" to a </a:t>
            </a:r>
            <a:r>
              <a:rPr lang="en-US" sz="1100" b="1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profitable, data-driven business</a:t>
            </a:r>
            <a:r>
              <a:rPr lang="en-US" sz="110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86500" y="1626989"/>
            <a:ext cx="2356619" cy="1496690"/>
          </a:xfrm>
          <a:prstGeom prst="rect">
            <a:avLst/>
          </a:prstGeom>
          <a:solidFill>
            <a:srgbClr val="626C3B"/>
          </a:solidFill>
          <a:ln/>
        </p:spPr>
      </p:sp>
      <p:sp>
        <p:nvSpPr>
          <p:cNvPr id="10" name="Shape 7"/>
          <p:cNvSpPr/>
          <p:nvPr/>
        </p:nvSpPr>
        <p:spPr>
          <a:xfrm>
            <a:off x="6286500" y="1626989"/>
            <a:ext cx="19050" cy="1496690"/>
          </a:xfrm>
          <a:prstGeom prst="roundRect">
            <a:avLst>
              <a:gd name="adj" fmla="val 1116279"/>
            </a:avLst>
          </a:prstGeom>
          <a:solidFill>
            <a:srgbClr val="9C9247"/>
          </a:solidFill>
          <a:ln/>
        </p:spPr>
      </p:sp>
      <p:sp>
        <p:nvSpPr>
          <p:cNvPr id="11" name="Text 8"/>
          <p:cNvSpPr/>
          <p:nvPr/>
        </p:nvSpPr>
        <p:spPr>
          <a:xfrm>
            <a:off x="6428259" y="1768748"/>
            <a:ext cx="2073101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📈</a:t>
            </a:r>
            <a:r>
              <a:rPr lang="en-US" sz="135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 Data-Driven Decisions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428259" y="2301478"/>
            <a:ext cx="207310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Help farmers make informed choices — like when to sell a non-productive cow.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929881" y="3123679"/>
            <a:ext cx="4713238" cy="1048420"/>
          </a:xfrm>
          <a:prstGeom prst="rect">
            <a:avLst/>
          </a:prstGeom>
          <a:solidFill>
            <a:srgbClr val="626C3B"/>
          </a:solidFill>
          <a:ln/>
        </p:spPr>
      </p:sp>
      <p:sp>
        <p:nvSpPr>
          <p:cNvPr id="14" name="Shape 11"/>
          <p:cNvSpPr/>
          <p:nvPr/>
        </p:nvSpPr>
        <p:spPr>
          <a:xfrm>
            <a:off x="3929881" y="3123679"/>
            <a:ext cx="4713238" cy="19050"/>
          </a:xfrm>
          <a:prstGeom prst="roundRect">
            <a:avLst>
              <a:gd name="adj" fmla="val 1116279"/>
            </a:avLst>
          </a:prstGeom>
          <a:solidFill>
            <a:srgbClr val="CE9521"/>
          </a:solidFill>
          <a:ln/>
        </p:spPr>
      </p:sp>
      <p:sp>
        <p:nvSpPr>
          <p:cNvPr id="15" name="Text 12"/>
          <p:cNvSpPr/>
          <p:nvPr/>
        </p:nvSpPr>
        <p:spPr>
          <a:xfrm>
            <a:off x="4071640" y="3265438"/>
            <a:ext cx="177202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💡</a:t>
            </a:r>
            <a:r>
              <a:rPr lang="en-US" sz="135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 Financial Literacy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071640" y="3576712"/>
            <a:ext cx="442972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Teach the core concept of </a:t>
            </a:r>
            <a:r>
              <a:rPr lang="en-US" sz="1100" b="1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Input Cost vs. Gross Income</a:t>
            </a:r>
            <a:r>
              <a:rPr lang="en-US" sz="110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to rural communities.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70309"/>
            <a:ext cx="508121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Advantages &amp; Success Criteria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367656"/>
            <a:ext cx="320315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What Makes Ksheera-Sagara Different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9250" y="1755651"/>
            <a:ext cx="212601" cy="2126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6816" y="1748582"/>
            <a:ext cx="344224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Cow-wise profitability</a:t>
            </a: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— compare which animal earns the most.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9250" y="2492797"/>
            <a:ext cx="212601" cy="21260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56816" y="2485727"/>
            <a:ext cx="344224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Offline-first design</a:t>
            </a: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— works without internet in rural areas.</a:t>
            </a:r>
            <a:endParaRPr lang="en-US" sz="11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9250" y="3229942"/>
            <a:ext cx="212601" cy="21260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56816" y="3222873"/>
            <a:ext cx="344224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Shareable reports</a:t>
            </a: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— monthly PDF summaries for cooperatives or loans.</a:t>
            </a:r>
            <a:endParaRPr lang="en-US" sz="11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9250" y="3967088"/>
            <a:ext cx="212601" cy="21260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56816" y="3960019"/>
            <a:ext cx="344224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AI cost tips</a:t>
            </a: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— personalized suggestions to improve margins.</a:t>
            </a:r>
            <a:endParaRPr lang="en-US" sz="1100" dirty="0"/>
          </a:p>
        </p:txBody>
      </p:sp>
      <p:sp>
        <p:nvSpPr>
          <p:cNvPr id="12" name="Shape 6"/>
          <p:cNvSpPr/>
          <p:nvPr/>
        </p:nvSpPr>
        <p:spPr>
          <a:xfrm>
            <a:off x="4647605" y="1225897"/>
            <a:ext cx="4107135" cy="3347219"/>
          </a:xfrm>
          <a:prstGeom prst="roundRect">
            <a:avLst>
              <a:gd name="adj" fmla="val 10165"/>
            </a:avLst>
          </a:prstGeom>
          <a:solidFill>
            <a:srgbClr val="626C3B"/>
          </a:solidFill>
          <a:ln/>
        </p:spPr>
      </p:sp>
      <p:sp>
        <p:nvSpPr>
          <p:cNvPr id="13" name="Text 7"/>
          <p:cNvSpPr/>
          <p:nvPr/>
        </p:nvSpPr>
        <p:spPr>
          <a:xfrm>
            <a:off x="4789363" y="136765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Success Criteria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789363" y="1730871"/>
            <a:ext cx="3823618" cy="128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App generates a Monthly Financial Summary as PDF/Image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Expense entry has categories: Fodder, Medical, Labor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UI is clean and centered on "Money" metrics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Profit/Loss indicator is visible on the home screen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3550" y="0"/>
            <a:ext cx="3600450" cy="5143500"/>
          </a:xfrm>
          <a:prstGeom prst="rect">
            <a:avLst/>
          </a:prstGeom>
          <a:solidFill>
            <a:srgbClr val="626C3B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3290" y="818555"/>
            <a:ext cx="2629793" cy="35063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695176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Conclusion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496119" y="1350764"/>
            <a:ext cx="47227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Ksheera-Sagara bridges the gap between </a:t>
            </a:r>
            <a:r>
              <a:rPr lang="en-US" sz="11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daily milk production</a:t>
            </a: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and </a:t>
            </a:r>
            <a:r>
              <a:rPr lang="en-US" sz="11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real financial awareness</a:t>
            </a: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. By combining Android development with GenAI, this project empowers dairy farmers to make smarter, data-backed decisions — turning invisible losses into visible profit.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96119" y="2417490"/>
            <a:ext cx="2290465" cy="1057945"/>
          </a:xfrm>
          <a:prstGeom prst="roundRect">
            <a:avLst>
              <a:gd name="adj" fmla="val 20100"/>
            </a:avLst>
          </a:prstGeom>
          <a:solidFill>
            <a:srgbClr val="626C3B"/>
          </a:solidFill>
          <a:ln w="4763">
            <a:solidFill>
              <a:srgbClr val="7B855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2640" y="2564011"/>
            <a:ext cx="177202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🎯</a:t>
            </a:r>
            <a:r>
              <a:rPr lang="en-US" sz="135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 Problem Solved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42640" y="2875285"/>
            <a:ext cx="19974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Farmers finally see their true profit after all costs.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928342" y="2417490"/>
            <a:ext cx="2290539" cy="1057945"/>
          </a:xfrm>
          <a:prstGeom prst="roundRect">
            <a:avLst>
              <a:gd name="adj" fmla="val 20100"/>
            </a:avLst>
          </a:prstGeom>
          <a:solidFill>
            <a:srgbClr val="83792E"/>
          </a:solidFill>
          <a:ln w="4763">
            <a:solidFill>
              <a:srgbClr val="9C924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074863" y="2564011"/>
            <a:ext cx="177202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🤖</a:t>
            </a:r>
            <a:r>
              <a:rPr lang="en-US" sz="135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 AI-Powered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3074863" y="2875285"/>
            <a:ext cx="19974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GenAI turns raw numbers into actionable advice.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96119" y="3617193"/>
            <a:ext cx="4722763" cy="831131"/>
          </a:xfrm>
          <a:prstGeom prst="roundRect">
            <a:avLst>
              <a:gd name="adj" fmla="val 25586"/>
            </a:avLst>
          </a:prstGeom>
          <a:solidFill>
            <a:srgbClr val="E8AF3B"/>
          </a:solidFill>
          <a:ln w="4763">
            <a:solidFill>
              <a:srgbClr val="CE952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2640" y="3763714"/>
            <a:ext cx="177202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🌍 Real Impact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42640" y="4074988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Financial literacy for rural dairy communities at scale.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77FD129-A67C-FF29-EFAF-6B0940F4D2C1}"/>
              </a:ext>
            </a:extLst>
          </p:cNvPr>
          <p:cNvSpPr/>
          <p:nvPr/>
        </p:nvSpPr>
        <p:spPr>
          <a:xfrm>
            <a:off x="2720210" y="2190876"/>
            <a:ext cx="3703578" cy="76174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sz="4500" b="1" spc="38" dirty="0">
                <a:ln w="0"/>
                <a:solidFill>
                  <a:schemeClr val="accent2">
                    <a:lumMod val="75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5649060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773</Words>
  <Application>Microsoft Office PowerPoint</Application>
  <PresentationFormat>On-screen Show (16:9)</PresentationFormat>
  <Paragraphs>108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Times New Roman</vt:lpstr>
      <vt:lpstr>Brygada 1918 Semi Bold</vt:lpstr>
      <vt:lpstr>Brygada 1918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Tejaswini4</dc:creator>
  <cp:lastModifiedBy>Tejaswini RN</cp:lastModifiedBy>
  <cp:revision>3</cp:revision>
  <dcterms:created xsi:type="dcterms:W3CDTF">2026-05-06T04:05:50Z</dcterms:created>
  <dcterms:modified xsi:type="dcterms:W3CDTF">2026-05-15T16:55:49Z</dcterms:modified>
</cp:coreProperties>
</file>